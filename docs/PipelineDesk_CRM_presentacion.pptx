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450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1078992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PipelineDesk CRM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13232" y="19019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 CRM Pipeline para centros de formación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13232" y="23591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del </a:t>
            </a:r>
            <a:r>
              <a:rPr lang="en-US" sz="13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</a:t>
            </a: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13232" y="2871216"/>
            <a:ext cx="3931920" cy="292608"/>
          </a:xfrm>
          <a:prstGeom prst="roundRect">
            <a:avLst>
              <a:gd name="adj" fmla="val 2187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 sz="3200"/>
          </a:p>
        </p:txBody>
      </p:sp>
      <p:sp>
        <p:nvSpPr>
          <p:cNvPr id="7" name="Text 4"/>
          <p:cNvSpPr/>
          <p:nvPr/>
        </p:nvSpPr>
        <p:spPr>
          <a:xfrm>
            <a:off x="822960" y="2935224"/>
            <a:ext cx="3712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PHP · MySQL · JavaScript · HTML · CSS · Tailwind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PipelineDesk CRM · Proyecto final 2º DAW · 1</a:t>
            </a:r>
            <a:endParaRPr lang="en-US" sz="8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D6F750D9-D8C0-124E-649F-6E1AC91230BE}"/>
              </a:ext>
            </a:extLst>
          </p:cNvPr>
          <p:cNvSpPr/>
          <p:nvPr/>
        </p:nvSpPr>
        <p:spPr>
          <a:xfrm>
            <a:off x="731520" y="4187951"/>
            <a:ext cx="4754880" cy="710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SERGIO PAVÓN DÍAZ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</a:rPr>
              <a:t>2º DAW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</a:rPr>
              <a:t>IES CRISTOBAL DEL MONROY</a:t>
            </a:r>
            <a:endParaRPr lang="en-US" sz="13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B1479CF-0E0C-1C41-FB32-8A03104B2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980" y="2359152"/>
            <a:ext cx="5449060" cy="17052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220"/>
                </a:solidFill>
                <a:latin typeface="Aptos" pitchFamily="34" charset="0"/>
              </a:rPr>
              <a:t>Puntos a </a:t>
            </a:r>
            <a:r>
              <a:rPr lang="en-US" sz="3000" b="1" dirty="0" err="1">
                <a:solidFill>
                  <a:srgbClr val="0B1220"/>
                </a:solidFill>
                <a:latin typeface="Aptos" pitchFamily="34" charset="0"/>
              </a:rPr>
              <a:t>tratar</a:t>
            </a:r>
            <a:r>
              <a:rPr lang="en-US" sz="3000" b="1" dirty="0">
                <a:solidFill>
                  <a:srgbClr val="0B1220"/>
                </a:solidFill>
                <a:latin typeface="Aptos" pitchFamily="34" charset="0"/>
              </a:rPr>
              <a:t>: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desde el problema hasta las mejoras futuras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6230983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987552" y="1298448"/>
            <a:ext cx="249239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987552" y="1371600"/>
            <a:ext cx="2492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00200" y="1344168"/>
            <a:ext cx="4713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y contexto del proyecto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1892808"/>
            <a:ext cx="6230983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987552" y="1956816"/>
            <a:ext cx="249239" cy="42062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987552" y="2029968"/>
            <a:ext cx="2492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00200" y="2002536"/>
            <a:ext cx="489390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Funcionalidades principales del CRM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2551176"/>
            <a:ext cx="6230983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987552" y="2615184"/>
            <a:ext cx="249239" cy="42062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987552" y="2688336"/>
            <a:ext cx="2492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00200" y="2660904"/>
            <a:ext cx="4713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MVC y modelo de datos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3209544"/>
            <a:ext cx="6230983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987552" y="3273552"/>
            <a:ext cx="249239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987552" y="3346704"/>
            <a:ext cx="2492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00200" y="3319272"/>
            <a:ext cx="4713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 por fases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3867912"/>
            <a:ext cx="6230983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987552" y="3931920"/>
            <a:ext cx="249239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987552" y="4005072"/>
            <a:ext cx="2492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00200" y="3977640"/>
            <a:ext cx="4713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Dificultades encontradas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2960" y="4526280"/>
            <a:ext cx="6230983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987552" y="4590288"/>
            <a:ext cx="249239" cy="42062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987552" y="4663440"/>
            <a:ext cx="2492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00200" y="4636008"/>
            <a:ext cx="4713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Cambios respecto a la planificación inicial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2960" y="5184648"/>
            <a:ext cx="6230983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 sz="2000"/>
          </a:p>
        </p:txBody>
      </p:sp>
      <p:sp>
        <p:nvSpPr>
          <p:cNvPr id="30" name="Shape 28"/>
          <p:cNvSpPr/>
          <p:nvPr/>
        </p:nvSpPr>
        <p:spPr>
          <a:xfrm>
            <a:off x="987552" y="5248656"/>
            <a:ext cx="249239" cy="4206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987552" y="5321808"/>
            <a:ext cx="2492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600200" y="5294376"/>
            <a:ext cx="48939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Propuestas de mejora y conclusiones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PipelineDesk CRM · Proyecto final 2º DAW ·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303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4440" y="502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del proyecto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04672" y="1298448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un CRM ligero para gestionar el ciclo comercial de un centro de formación: captar interesados, hacer seguimiento, moverlos por el embudo y analizar resultados.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2926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097280" y="324612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Captación desde formulario público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Gestión de leads y estados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Tareas, objeciones e histórico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Dashboard comercial con objetivos</a:t>
            </a:r>
            <a:endParaRPr lang="en-US" sz="1700" dirty="0"/>
          </a:p>
        </p:txBody>
      </p:sp>
      <p:pic>
        <p:nvPicPr>
          <p:cNvPr id="7" name="Image 0" descr="/mnt/data/pdfrenders/page-05.png"/>
          <p:cNvPicPr>
            <a:picLocks noChangeAspect="1"/>
          </p:cNvPicPr>
          <p:nvPr/>
        </p:nvPicPr>
        <p:blipFill>
          <a:blip r:embed="rId3"/>
          <a:srcRect l="2586" r="2586"/>
          <a:stretch/>
        </p:blipFill>
        <p:spPr>
          <a:xfrm>
            <a:off x="6903720" y="822960"/>
            <a:ext cx="3886200" cy="5303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PipelineDesk CRM · Proyecto final 2º DAW ·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y mercado objetivo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solución vertical frente a CRMs demasiado amplios</a:t>
            </a:r>
            <a:endParaRPr lang="en-US" sz="1100" dirty="0"/>
          </a:p>
        </p:txBody>
      </p:sp>
      <p:pic>
        <p:nvPicPr>
          <p:cNvPr id="5" name="Image 0" descr="/mnt/data/pdfrenders/page-07.png"/>
          <p:cNvPicPr>
            <a:picLocks noChangeAspect="1"/>
          </p:cNvPicPr>
          <p:nvPr/>
        </p:nvPicPr>
        <p:blipFill>
          <a:blip r:embed="rId3"/>
          <a:srcRect t="2652" b="2652"/>
          <a:stretch/>
        </p:blipFill>
        <p:spPr>
          <a:xfrm>
            <a:off x="6720840" y="594360"/>
            <a:ext cx="4663440" cy="5715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18872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960120" y="1481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 detectada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60120" y="1993392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Academias pequeñas y medianas necesitan control comercial sin complejidad enterprise.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PipelineDesk prioriza simplicidad, rapidez de implantación y adaptación a procesos educativos.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foco no es competir en amplitud, sino en adecuación al embudo de </a:t>
            </a:r>
            <a:r>
              <a:rPr lang="en-US" sz="1600" dirty="0" err="1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matriculación</a:t>
            </a: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00" dirty="0" err="1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Automatizar</a:t>
            </a: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tareas</a:t>
            </a: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</a:t>
            </a: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departamento</a:t>
            </a: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Ventas.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PipelineDesk CRM · Proyecto final 2º DAW ·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Funcionalidades implementadas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 real de la versión final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68680" y="158191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15544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y sesiones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41832" y="2103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de acceso a rutas privadas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3258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617720" y="1508760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617720" y="158191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5544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90872" y="2103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Alta pública, alta interna, edición y borrado admin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83880" y="13258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8366760" y="1508760"/>
            <a:ext cx="420624" cy="42062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366760" y="158191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15400" y="15544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 y Kanban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39912" y="2103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Estados del embudo y drag and drop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32918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868680" y="3474720"/>
            <a:ext cx="420624" cy="42062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868680" y="354787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35204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Detalle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41832" y="40690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Notas, histórico y actividad comercial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34840" y="32918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4617720" y="3474720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617720" y="354787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35204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690872" y="40690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Seguimientos y objeciones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83880" y="32918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8366760" y="3474720"/>
            <a:ext cx="420624" cy="4206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8366760" y="354787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📊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15400" y="35204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439912" y="40690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KPIs, filtros y objetivos del mes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PipelineDesk CRM · Proyecto final 2º DAW ·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Embudo comercial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lead avanza por etapas hasta convertirse en alumno o perderse.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1600200" cy="713232"/>
          </a:xfrm>
          <a:prstGeom prst="chevron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96112" y="29718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Nuevo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2743200"/>
            <a:ext cx="1600200" cy="713232"/>
          </a:xfrm>
          <a:prstGeom prst="chevron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724912" y="29718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Contactado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2743200"/>
            <a:ext cx="1600200" cy="713232"/>
          </a:xfrm>
          <a:prstGeom prst="chevron">
            <a:avLst/>
          </a:prstGeom>
          <a:solidFill>
            <a:srgbClr val="4F46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553712" y="29718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Calificado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1600200" cy="713232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382512" y="29718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Propuesta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743200"/>
            <a:ext cx="1600200" cy="713232"/>
          </a:xfrm>
          <a:prstGeom prst="chevron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211312" y="29718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Objeciones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966960" y="2743200"/>
            <a:ext cx="1600200" cy="713232"/>
          </a:xfrm>
          <a:prstGeom prst="chevron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0040112" y="29718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Ganado / Perdido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417320" y="4343400"/>
            <a:ext cx="9189720" cy="1143000"/>
          </a:xfrm>
          <a:prstGeom prst="roundRect">
            <a:avLst>
              <a:gd name="adj" fmla="val 6400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737360" y="45902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063240" y="452628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cambio de estado actualiza datos, registra histórico y permite que el equipo vea el progreso comercial en panel, Kanban y dashboard.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PipelineDesk CRM · Proyecto final 2º DAW ·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final del sistema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PHP MVC con front controller y componentes propios</a:t>
            </a:r>
            <a:endParaRPr lang="en-US" sz="1100" dirty="0"/>
          </a:p>
        </p:txBody>
      </p:sp>
      <p:pic>
        <p:nvPicPr>
          <p:cNvPr id="5" name="Image 0" descr="/mnt/data/pdfrenders/page-24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6812280" y="731520"/>
            <a:ext cx="4206240" cy="5440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1143000"/>
            <a:ext cx="48920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097280" y="12527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public/index.php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337560" y="12527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 controller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1856232"/>
            <a:ext cx="4892040" cy="43891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1097280" y="19659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Route.php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337560" y="196596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2569464"/>
            <a:ext cx="48920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1097280" y="26791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37560" y="267919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y coordinación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8680" y="3282696"/>
            <a:ext cx="4892040" cy="43891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1097280" y="33924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337560" y="339242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Consultas SQL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68680" y="3995928"/>
            <a:ext cx="48920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1097280" y="41056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337560" y="410565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y componentes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68680" y="4709160"/>
            <a:ext cx="4892040" cy="43891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1097280" y="48188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337560" y="481888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Persistencia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PipelineDesk CRM · Proyecto final 2º DAW ·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1148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de carpetas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Organización real del proyecto crm-pipeline</a:t>
            </a:r>
            <a:endParaRPr lang="en-US" sz="1400" dirty="0"/>
          </a:p>
        </p:txBody>
      </p:sp>
      <p:pic>
        <p:nvPicPr>
          <p:cNvPr id="4" name="Image 0" descr="/mnt/data/a_clean_infographic_screenshot_style_diagram_sho.png"/>
          <p:cNvPicPr>
            <a:picLocks noChangeAspect="1"/>
          </p:cNvPicPr>
          <p:nvPr/>
        </p:nvPicPr>
        <p:blipFill>
          <a:blip r:embed="rId3"/>
          <a:srcRect t="14873" b="14873"/>
          <a:stretch/>
        </p:blipFill>
        <p:spPr>
          <a:xfrm>
            <a:off x="731520" y="1280160"/>
            <a:ext cx="10835640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PipelineDesk CRM · Proyecto final 2º DAW ·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de datos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lead es el centro del sistema</a:t>
            </a:r>
            <a:endParaRPr lang="en-US" sz="1100" dirty="0"/>
          </a:p>
        </p:txBody>
      </p:sp>
      <p:pic>
        <p:nvPicPr>
          <p:cNvPr id="5" name="Image 0" descr="/mnt/data/pdfrenders/page-14.png"/>
          <p:cNvPicPr>
            <a:picLocks noChangeAspect="1"/>
          </p:cNvPicPr>
          <p:nvPr/>
        </p:nvPicPr>
        <p:blipFill>
          <a:blip r:embed="rId3"/>
          <a:srcRect t="2477" b="2477"/>
          <a:stretch/>
        </p:blipFill>
        <p:spPr>
          <a:xfrm>
            <a:off x="6583680" y="594360"/>
            <a:ext cx="4572000" cy="5623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12344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051560" y="138074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29000" y="12344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3566160" y="138074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14400" y="2130552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051560" y="227685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notas_lead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29000" y="2130552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3566160" y="227685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historial_lead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0" y="3026664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1051560" y="317296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tareas_lead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429000" y="3026664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3566160" y="317296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objetivos_mensuales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14400" y="3922776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1051560" y="406908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notificaciones_app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8680" y="5138928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Relaciones destacadas: usuarios 1:N leads, leads 1:N notas, leads 1:N histórico y leads 1:N tareas.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PipelineDesk CRM · Proyecto final 2º DAW ·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Consultas y lógica de acceso a datos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analítica se resuelve desde modelos con SQL preparado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1546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960120" y="16002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Autenticación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0574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usuario por email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371600"/>
            <a:ext cx="31546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663440" y="16002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20574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 JOIN leads + usuarios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1546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366760" y="16002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66760" y="20574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COUNT, SUM y CASE WHEN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31546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960120" y="34290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38862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BY estado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34840" y="3200400"/>
            <a:ext cx="31546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663440" y="34290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Listado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63440" y="38862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Filtros dinámicos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3200400"/>
            <a:ext cx="31546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8366760" y="34290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66760" y="38862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INNER JOIN leads/usuarios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8680" y="5303520"/>
            <a:ext cx="10332720" cy="640080"/>
          </a:xfrm>
          <a:prstGeom prst="roundRect">
            <a:avLst>
              <a:gd name="adj" fmla="val 11429"/>
            </a:avLst>
          </a:prstGeom>
          <a:solidFill>
            <a:srgbClr val="ECFEFF"/>
          </a:solidFill>
          <a:ln w="12700">
            <a:solidFill>
              <a:srgbClr val="67E8F9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1115568" y="5532120"/>
            <a:ext cx="950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Patrones clave: consultas preparadas, JOINs, filtros parametrizados, agregaciones, CASE WHEN y control de permisos.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PipelineDesk CRM · Proyecto final 2º DAW ·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 de usuario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Vistas principales del CRM</a:t>
            </a:r>
            <a:endParaRPr lang="en-US" sz="1100" dirty="0"/>
          </a:p>
        </p:txBody>
      </p:sp>
      <p:pic>
        <p:nvPicPr>
          <p:cNvPr id="5" name="Image 0" descr="/mnt/data/pdfrenders/page-18.png"/>
          <p:cNvPicPr>
            <a:picLocks noChangeAspect="1"/>
          </p:cNvPicPr>
          <p:nvPr/>
        </p:nvPicPr>
        <p:blipFill>
          <a:blip r:embed="rId3"/>
          <a:srcRect l="5438" r="5438"/>
          <a:stretch/>
        </p:blipFill>
        <p:spPr>
          <a:xfrm>
            <a:off x="777240" y="1097280"/>
            <a:ext cx="3337560" cy="4846320"/>
          </a:xfrm>
          <a:prstGeom prst="rect">
            <a:avLst/>
          </a:prstGeom>
        </p:spPr>
      </p:pic>
      <p:pic>
        <p:nvPicPr>
          <p:cNvPr id="6" name="Image 1" descr="/mnt/data/pdfrenders/page-19.png"/>
          <p:cNvPicPr>
            <a:picLocks noChangeAspect="1"/>
          </p:cNvPicPr>
          <p:nvPr/>
        </p:nvPicPr>
        <p:blipFill>
          <a:blip r:embed="rId4"/>
          <a:srcRect l="5438" r="5438"/>
          <a:stretch/>
        </p:blipFill>
        <p:spPr>
          <a:xfrm>
            <a:off x="4434840" y="1097280"/>
            <a:ext cx="3337560" cy="4846320"/>
          </a:xfrm>
          <a:prstGeom prst="rect">
            <a:avLst/>
          </a:prstGeom>
        </p:spPr>
      </p:pic>
      <p:pic>
        <p:nvPicPr>
          <p:cNvPr id="7" name="Image 2" descr="/mnt/data/pdfrenders/page-20.png"/>
          <p:cNvPicPr>
            <a:picLocks noChangeAspect="1"/>
          </p:cNvPicPr>
          <p:nvPr/>
        </p:nvPicPr>
        <p:blipFill>
          <a:blip r:embed="rId5"/>
          <a:srcRect l="5438" r="5438"/>
          <a:stretch/>
        </p:blipFill>
        <p:spPr>
          <a:xfrm>
            <a:off x="8092440" y="1097280"/>
            <a:ext cx="3337560" cy="4846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PipelineDesk CRM · Proyecto final 2º DAW ·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de navegación</a:t>
            </a:r>
            <a:endParaRPr lang="en-US" sz="3200" dirty="0"/>
          </a:p>
        </p:txBody>
      </p:sp>
      <p:pic>
        <p:nvPicPr>
          <p:cNvPr id="3" name="Image 0" descr="/mnt/data/pdfrenders/page-22.png"/>
          <p:cNvPicPr>
            <a:picLocks noChangeAspect="1"/>
          </p:cNvPicPr>
          <p:nvPr/>
        </p:nvPicPr>
        <p:blipFill>
          <a:blip r:embed="rId3"/>
          <a:srcRect l="2549" r="2549"/>
          <a:stretch/>
        </p:blipFill>
        <p:spPr>
          <a:xfrm>
            <a:off x="6812280" y="731520"/>
            <a:ext cx="4023360" cy="5486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137160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1005840" y="16642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Zona pública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5840" y="21488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/login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/contacto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/politica-privacidad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840480" y="137160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069080" y="16642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Zona privada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069080" y="2103120"/>
            <a:ext cx="2011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/panel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/pipeline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/dashboard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/leads/nuevo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/leads/{id}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/leads/listado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/tareas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/logout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PipelineDesk CRM · Proyecto final 2º DAW ·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por fases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Construcción incremental de la aplicación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1078992" cy="1078992"/>
          </a:xfrm>
          <a:prstGeom prst="roundRect">
            <a:avLst>
              <a:gd name="adj" fmla="val 8475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143000" y="22677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Base MVC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85416" y="2057400"/>
            <a:ext cx="1078992" cy="1078992"/>
          </a:xfrm>
          <a:prstGeom prst="roundRect">
            <a:avLst>
              <a:gd name="adj" fmla="val 8475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551176" y="22677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139696" y="33832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Login y sesiones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93592" y="2057400"/>
            <a:ext cx="1078992" cy="1078992"/>
          </a:xfrm>
          <a:prstGeom prst="roundRect">
            <a:avLst>
              <a:gd name="adj" fmla="val 8475"/>
            </a:avLst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959352" y="22677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47872" y="33832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Leads y panel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01768" y="2057400"/>
            <a:ext cx="1078992" cy="1078992"/>
          </a:xfrm>
          <a:prstGeom prst="roundRect">
            <a:avLst>
              <a:gd name="adj" fmla="val 8475"/>
            </a:avLst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367528" y="22677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56048" y="33832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Detalle e histórico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9944" y="2057400"/>
            <a:ext cx="1078992" cy="1078992"/>
          </a:xfrm>
          <a:prstGeom prst="roundRect">
            <a:avLst>
              <a:gd name="adj" fmla="val 8475"/>
            </a:avLst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775704" y="22677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64224" y="33832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Kanban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18120" y="2057400"/>
            <a:ext cx="1078992" cy="1078992"/>
          </a:xfrm>
          <a:prstGeom prst="roundRect">
            <a:avLst>
              <a:gd name="adj" fmla="val 8475"/>
            </a:avLst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8183880" y="22677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772400" y="33832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Tareas y objeciones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226296" y="2057400"/>
            <a:ext cx="1078992" cy="1078992"/>
          </a:xfrm>
          <a:prstGeom prst="roundRect">
            <a:avLst>
              <a:gd name="adj" fmla="val 8475"/>
            </a:avLst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9592056" y="22677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80576" y="33832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Dashboard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634472" y="2057400"/>
            <a:ext cx="1078992" cy="1078992"/>
          </a:xfrm>
          <a:prstGeom prst="roundRect">
            <a:avLst>
              <a:gd name="adj" fmla="val 8475"/>
            </a:avLst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11000232" y="22677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588752" y="33832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Tailwind y UX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51560" y="4572000"/>
            <a:ext cx="9966960" cy="804672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1325880" y="4828032"/>
            <a:ext cx="923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fase añadió funcionalidades y comprobaciones: rutas, sesiones, datos, interacción, automatización y mejora visual.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PipelineDesk CRM · Proyecto final 2º DAW ·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Aspectos importantes de la implementación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Decisiones técnicas que sostienen el proyecto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130759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2710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 claro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62763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sin HTML, vista sin SQL y controlador como coordinador.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234440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263640" y="130759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0" y="12710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POST/Redirect/GET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162763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reenvíos accidentales de formularios.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2715768"/>
            <a:ext cx="420624" cy="42062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77240" y="278892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27523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preparado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10896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Mejora seguridad y mantiene consultas parametrizadas.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2715768"/>
            <a:ext cx="420624" cy="42062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263640" y="278892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7523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Histórico comercial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310896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actividad o estado importante queda trazado.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197096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777240" y="427024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42336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Kanban asíncrono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459028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Drag and drop con fetch y persistencia.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4197096"/>
            <a:ext cx="420624" cy="4206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263640" y="427024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42336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Toasts y modo oscuro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0" y="459028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Mejora de experiencia incorporada en fase final.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PipelineDesk CRM · Proyecto final 2º DAW ·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02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Dificultad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13232" y="86868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7 con Tailwind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49808" y="1508760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reto no fue solo añadir Tailwind, sino integrarlo sin romper CSS previo, layout común, modo oscuro y componentes ya existentes.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138674" y="777240"/>
            <a:ext cx="4937760" cy="1261872"/>
          </a:xfrm>
          <a:prstGeom prst="roundRect">
            <a:avLst>
              <a:gd name="adj" fmla="val 579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6864100" y="1088136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Compatibilizar estilos antiguos y nuevos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Mantener coherencia visual entre vistas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Probar toasts, oscuro y objetivos del mes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PipelineDesk CRM · Proyecto final 2º DAW · 15</a:t>
            </a:r>
            <a:endParaRPr lang="en-US" sz="8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10672F6-65E0-4DFD-0232-3DF1FF929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348" y="2350008"/>
            <a:ext cx="7486327" cy="431135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Dificultad 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Consultas complejas y relaciones de base de datos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45827" y="3053265"/>
            <a:ext cx="5212080" cy="32509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097280" y="3515037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dashboard combina filtros, agregaciones y condiciones por estado.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Las tareas conectan leads, creador y usuario asignado.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Las objeciones dependen del estado del lead y generan tareas automáticamente.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Fue necesario equilibrar claridad del modelo con consultas útiles para la interfaz.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PipelineDesk CRM · Proyecto final 2º DAW · 16</a:t>
            </a:r>
            <a:endParaRPr lang="en-US" sz="8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694F8CD-E1BD-367E-B662-28DC9532A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27" y="1193292"/>
            <a:ext cx="10269894" cy="156403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Dificultad 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Relaciones y sincronización entre módulos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DBEAFE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069848" y="216712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" y="254203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 central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2404872"/>
            <a:ext cx="6400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063240" y="192024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218688" y="216712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18688" y="254203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comercial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2404872"/>
            <a:ext cx="6400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5212080" y="192024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367528" y="216712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67528" y="254203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20840" y="2404872"/>
            <a:ext cx="6400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7360920" y="192024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7516368" y="216712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16368" y="254203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869680" y="2404872"/>
            <a:ext cx="6400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9509760" y="192024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9665208" y="216712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65208" y="254203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4400" y="4251960"/>
            <a:ext cx="996696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2700">
            <a:solidFill>
              <a:srgbClr val="FDE68A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1234440" y="455371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Ejemplo: al cambiar un lead a Objeciones, el sistema debe actualizar estado, crear tarea, registrar histórico y reflejarlo en dashboard.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PipelineDesk CRM · Proyecto final 2º DAW · 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respecto a la planificación inicial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1024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una arquitectura Backend Hexagonal con Java a una aplicación MVC con tecnologías del instituto.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847088" y="18745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2098548" y="219456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inicial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357396" y="2286000"/>
            <a:ext cx="2873828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7830312" y="1894761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8131109" y="21945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Solución final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54816" y="285451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Java · OpenLiberty · MicroProfile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Hexagonal · puertos · adaptadores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76864" y="298094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PHP · MySQL · JavaScript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HTML · CSS · Tailwind · MVC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PipelineDesk CRM · Proyecto final 2º DAW · 18</a:t>
            </a:r>
            <a:endParaRPr lang="en-US" sz="800" dirty="0"/>
          </a:p>
        </p:txBody>
      </p:sp>
      <p:pic>
        <p:nvPicPr>
          <p:cNvPr id="1026" name="Picture 2" descr="Hexagonal Architecture in Frontend Applications">
            <a:extLst>
              <a:ext uri="{FF2B5EF4-FFF2-40B4-BE49-F238E27FC236}">
                <a16:creationId xmlns:a16="http://schemas.microsoft.com/office/drawing/2014/main" id="{9A104234-995B-DD0B-FE60-D569400EE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033" y="3406133"/>
            <a:ext cx="3833886" cy="2798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VC Pattern and Layered Model">
            <a:extLst>
              <a:ext uri="{FF2B5EF4-FFF2-40B4-BE49-F238E27FC236}">
                <a16:creationId xmlns:a16="http://schemas.microsoft.com/office/drawing/2014/main" id="{14D413ED-DBEE-921A-69D7-B8F4A2B74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478" y="3507391"/>
            <a:ext cx="4448343" cy="2697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Propuesta de mejora 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 más peso al apartado de Objeciones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51663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09728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Crear un espacio exclusivo para objeciones.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Registrar causa, impacto, respuesta propuesta y estado de resolución.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Convertir obstáculos comerciales en información accionable.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Relacionar objeciones con etapa, servicio y responsable.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PipelineDesk CRM · Proyecto final 2º DAW · 19</a:t>
            </a:r>
            <a:endParaRPr lang="en-US" sz="800" dirty="0"/>
          </a:p>
        </p:txBody>
      </p:sp>
      <p:pic>
        <p:nvPicPr>
          <p:cNvPr id="2050" name="Picture 2" descr="Implementación del Embudo de Ventas en 1 Ecommerce">
            <a:extLst>
              <a:ext uri="{FF2B5EF4-FFF2-40B4-BE49-F238E27FC236}">
                <a16:creationId xmlns:a16="http://schemas.microsoft.com/office/drawing/2014/main" id="{DEF07455-9294-F62C-D249-0E768EDCF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9454" y="1600200"/>
            <a:ext cx="6299659" cy="352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Propuesta de mejora 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Administración de usuarios desde la aplicación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128016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2E8F0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097280" y="1755648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Crear usuarios desde un panel Admin.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Asignar roles, activar/desactivar cuentas y resetear contraseña.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Evitar depender de scripts SQL para usuarios iniciales.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Mejorar autonomía del cliente y mantenimiento del CRM.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PipelineDesk CRM · Proyecto final 2º DAW · 20</a:t>
            </a:r>
            <a:endParaRPr lang="en-US" sz="800" dirty="0"/>
          </a:p>
        </p:txBody>
      </p:sp>
      <p:pic>
        <p:nvPicPr>
          <p:cNvPr id="3074" name="Picture 2" descr="【簡単解説】ユーザビリティとアクセシビリティの決定的な違いとは | DXアカウント">
            <a:extLst>
              <a:ext uri="{FF2B5EF4-FFF2-40B4-BE49-F238E27FC236}">
                <a16:creationId xmlns:a16="http://schemas.microsoft.com/office/drawing/2014/main" id="{621D26BF-2690-B0E9-CC4A-6A6E61D8A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8262" y="1689107"/>
            <a:ext cx="6474922" cy="353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4754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Propuesta de mejora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49808" y="841248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Configuración adaptable al </a:t>
            </a:r>
            <a:r>
              <a:rPr lang="en-US" sz="3400" b="1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Negocio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97280" y="2029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Intereses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423160" y="20391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Cursos o servicios que ofrece la empresa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400800" y="2029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26680" y="20391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Embudo configurable por cada negocio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24612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097280" y="34472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423160" y="34564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Catálogo comercial editable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324612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400800" y="34472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26680" y="34564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Objetivos, prioridades y automatizaciones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55046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Resultado: una aplicación menos rígida, capaz de adaptarse a academias, servicios y procesos comerciales diferentes.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PipelineDesk CRM · Proyecto final 2º DAW · 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669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GRACIAS !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80648" y="2651760"/>
            <a:ext cx="4480560" cy="1078992"/>
          </a:xfrm>
          <a:prstGeom prst="roundRect">
            <a:avLst>
              <a:gd name="adj" fmla="val 6780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200104" y="2907792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200104" y="298094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57888" y="28712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completo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57888" y="32735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Cubre captación, seguimiento, tareas, pipeline y analítica.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75608" y="2651760"/>
            <a:ext cx="4480560" cy="1078992"/>
          </a:xfrm>
          <a:prstGeom prst="roundRect">
            <a:avLst>
              <a:gd name="adj" fmla="val 6780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595064" y="2907792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595064" y="298094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52848" y="28712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Aprendizaje real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52848" y="32735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 PHP, MySQL, JavaScript, CSS, Tailwind y MVC.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80648" y="4343400"/>
            <a:ext cx="4480560" cy="1078992"/>
          </a:xfrm>
          <a:prstGeom prst="roundRect">
            <a:avLst>
              <a:gd name="adj" fmla="val 6780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1200104" y="4599432"/>
            <a:ext cx="420624" cy="42062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200104" y="467258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57888" y="45628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funcional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57888" y="4965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Pensado para centros de formación y procesos comerciales concretos.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75608" y="4343400"/>
            <a:ext cx="4480560" cy="1078992"/>
          </a:xfrm>
          <a:prstGeom prst="roundRect">
            <a:avLst>
              <a:gd name="adj" fmla="val 6780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6595064" y="4599432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595064" y="467258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52848" y="45628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Evolución posible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52848" y="4965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crecer hacia configuración, administración y mejor UX.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580644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PipelineDesk demuestra una aplicación web académica coherente, mantenible y defendible en exposición.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PipelineDesk CRM · Proyecto final 2º DAW · 23</a:t>
            </a:r>
            <a:endParaRPr lang="en-US" sz="800" dirty="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E116C337-7341-4C45-032F-401D51530ACB}"/>
              </a:ext>
            </a:extLst>
          </p:cNvPr>
          <p:cNvSpPr/>
          <p:nvPr/>
        </p:nvSpPr>
        <p:spPr>
          <a:xfrm>
            <a:off x="914400" y="13258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PipelineDesk CRM no es solo una práctica técnica: es una solución funcional para organizar un proceso comercial real en centros de formación.</a:t>
            </a:r>
            <a:endParaRPr lang="en-US" sz="2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1358</Words>
  <Application>Microsoft Office PowerPoint</Application>
  <PresentationFormat>Panorámica</PresentationFormat>
  <Paragraphs>280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5" baseType="lpstr">
      <vt:lpstr>Aptos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IES Cristóbal de Monroy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PipelineDesk CRM</dc:title>
  <dc:subject>PipelineDesk CRM</dc:subject>
  <dc:creator>OpenAI</dc:creator>
  <cp:lastModifiedBy>Sergio Pavon  Diaz</cp:lastModifiedBy>
  <cp:revision>2</cp:revision>
  <dcterms:created xsi:type="dcterms:W3CDTF">2026-05-08T14:20:59Z</dcterms:created>
  <dcterms:modified xsi:type="dcterms:W3CDTF">2026-05-08T17:48:15Z</dcterms:modified>
</cp:coreProperties>
</file>